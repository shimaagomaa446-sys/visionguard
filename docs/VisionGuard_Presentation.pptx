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mAP50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E7D5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5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D5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7D5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63A2F"/>
              </a:solidFill>
              <a:effectLst/>
            </c:spPr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1D283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Hardhat</c:v>
                </c:pt>
                <c:pt idx="1">
                  <c:v>Safety Vest</c:v>
                </c:pt>
                <c:pt idx="2">
                  <c:v>Person</c:v>
                </c:pt>
                <c:pt idx="3">
                  <c:v>NO-Safety Vest</c:v>
                </c:pt>
                <c:pt idx="4">
                  <c:v>NO-Hardhat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0.941</c:v>
                </c:pt>
                <c:pt idx="1">
                  <c:v>0.908</c:v>
                </c:pt>
                <c:pt idx="2">
                  <c:v>0.861</c:v>
                </c:pt>
                <c:pt idx="3">
                  <c:v>0.796</c:v>
                </c:pt>
                <c:pt idx="4">
                  <c:v>0.547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D283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t"/>
        <c:majorGridlines>
          <c:spPr>
            <a:ln w="6350" cap="flat" cmpd="sng" algn="ctr">
              <a:solidFill>
                <a:srgbClr val="CFD2C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5B687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1ed8675e-5f75-442a-996a-2df8d3e2a4f7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sec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sec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sec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sec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sec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sec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sec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sec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sec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sec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3-5 min. Keep screenshots ready as a backup.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sec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sec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sec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2C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VisionGuard</a:t>
            </a:r>
            <a:endParaRPr lang="en-US" sz="6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423160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Safety Monitoring System for Construction Sites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566160"/>
            <a:ext cx="49377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Shimaa Gomaa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AEB9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Computer Vision · Object Detection · Transfer Learning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AEB9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September 2026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035040" y="1188720"/>
            <a:ext cx="2560320" cy="2926080"/>
          </a:xfrm>
          <a:prstGeom prst="rect">
            <a:avLst/>
          </a:prstGeom>
          <a:solidFill>
            <a:srgbClr val="1D2830">
              <a:alpha val="0"/>
            </a:srgbClr>
          </a:solidFill>
          <a:ln w="38100">
            <a:solidFill>
              <a:srgbClr val="F2C5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35040" y="914400"/>
            <a:ext cx="1280160" cy="274320"/>
          </a:xfrm>
          <a:prstGeom prst="rect">
            <a:avLst/>
          </a:prstGeom>
          <a:solidFill>
            <a:srgbClr val="F2C500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Person 0.86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629400" y="1600200"/>
            <a:ext cx="1371600" cy="914400"/>
          </a:xfrm>
          <a:prstGeom prst="rect">
            <a:avLst/>
          </a:prstGeom>
          <a:solidFill>
            <a:srgbClr val="1D2830">
              <a:alpha val="0"/>
            </a:srgbClr>
          </a:solidFill>
          <a:ln w="38100">
            <a:solidFill>
              <a:srgbClr val="2E7D5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629400" y="1325880"/>
            <a:ext cx="1371600" cy="274320"/>
          </a:xfrm>
          <a:prstGeom prst="rect">
            <a:avLst/>
          </a:prstGeom>
          <a:solidFill>
            <a:srgbClr val="2E7D5B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Hardhat 0.94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55080" y="2743200"/>
            <a:ext cx="1920240" cy="1097280"/>
          </a:xfrm>
          <a:prstGeom prst="rect">
            <a:avLst/>
          </a:prstGeom>
          <a:solidFill>
            <a:srgbClr val="1D2830">
              <a:alpha val="0"/>
            </a:srgbClr>
          </a:solidFill>
          <a:ln w="38100">
            <a:solidFill>
              <a:srgbClr val="C63A2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55080" y="2468880"/>
            <a:ext cx="1737360" cy="274320"/>
          </a:xfrm>
          <a:prstGeom prst="rect">
            <a:avLst/>
          </a:prstGeom>
          <a:solidFill>
            <a:srgbClr val="C63A2F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NO-Safety Vest 0.80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D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0" y="365760"/>
            <a:ext cx="457200" cy="457200"/>
          </a:xfrm>
          <a:prstGeom prst="ellipse">
            <a:avLst/>
          </a:prstGeom>
          <a:solidFill>
            <a:srgbClr val="F2C500"/>
          </a:solidFill>
          <a:ln w="12700">
            <a:solidFill>
              <a:srgbClr val="F2C5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0" y="3657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43000"/>
            <a:ext cx="40233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FD2CB"/>
            </a:solidFill>
          </a:ln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725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Construction sites are dangerous</a:t>
            </a:r>
            <a:endParaRPr lang="en-US" sz="1725" dirty="0"/>
          </a:p>
          <a:p>
            <a:pPr marL="0" indent="0" algn="l">
              <a:spcAft>
                <a:spcPts val="400"/>
              </a:spcAft>
              <a:buSzPct val="100000"/>
              <a:buNone/>
            </a:pPr>
            <a:r>
              <a:rPr lang="en-US" sz="1435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Serious risks: </a:t>
            </a:r>
            <a:r>
              <a:rPr lang="en-US" sz="1435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falls, head injuries, accidents</a:t>
            </a:r>
            <a:endParaRPr lang="en-US" sz="1725" dirty="0"/>
          </a:p>
          <a:p>
            <a:pPr marL="0" indent="0" algn="l">
              <a:spcAft>
                <a:spcPts val="400"/>
              </a:spcAft>
              <a:buSzPct val="100000"/>
              <a:buNone/>
            </a:pPr>
            <a:r>
              <a:rPr lang="en-US" sz="1435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Hardhats </a:t>
            </a:r>
            <a:r>
              <a:rPr lang="en-US" sz="1435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protect against falling objects</a:t>
            </a:r>
            <a:endParaRPr lang="en-US" sz="1725" dirty="0"/>
          </a:p>
          <a:p>
            <a:pPr marL="0" indent="0" algn="l">
              <a:spcAft>
                <a:spcPts val="400"/>
              </a:spcAft>
              <a:buSzPct val="100000"/>
              <a:buNone/>
            </a:pPr>
            <a:r>
              <a:rPr lang="en-US" sz="1435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Safety vests </a:t>
            </a:r>
            <a:r>
              <a:rPr lang="en-US" sz="1435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 workers visible</a:t>
            </a:r>
            <a:endParaRPr lang="en-US" sz="1725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1143000"/>
            <a:ext cx="40233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FD2CB"/>
            </a:solidFill>
          </a:ln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725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monitoring doesn't scale</a:t>
            </a:r>
            <a:endParaRPr lang="en-US" sz="1725" dirty="0"/>
          </a:p>
          <a:p>
            <a:pPr marL="0" indent="0" algn="l">
              <a:spcAft>
                <a:spcPts val="400"/>
              </a:spcAft>
              <a:buSzPct val="100000"/>
              <a:buNone/>
            </a:pPr>
            <a:r>
              <a:rPr lang="en-US" sz="1435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Expensive: </a:t>
            </a:r>
            <a:r>
              <a:rPr lang="en-US" sz="1435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needs dedicated safety officers</a:t>
            </a:r>
            <a:endParaRPr lang="en-US" sz="1725" dirty="0"/>
          </a:p>
          <a:p>
            <a:pPr marL="0" indent="0" algn="l">
              <a:spcAft>
                <a:spcPts val="400"/>
              </a:spcAft>
              <a:buSzPct val="100000"/>
              <a:buNone/>
            </a:pPr>
            <a:r>
              <a:rPr lang="en-US" sz="1435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Inconsistent: </a:t>
            </a:r>
            <a:r>
              <a:rPr lang="en-US" sz="1435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human attention varies</a:t>
            </a:r>
            <a:endParaRPr lang="en-US" sz="1725" dirty="0"/>
          </a:p>
          <a:p>
            <a:pPr marL="0" indent="0" algn="l">
              <a:spcAft>
                <a:spcPts val="400"/>
              </a:spcAft>
              <a:buSzPct val="100000"/>
              <a:buNone/>
            </a:pPr>
            <a:r>
              <a:rPr lang="en-US" sz="1435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Reactive: </a:t>
            </a:r>
            <a:r>
              <a:rPr lang="en-US" sz="1435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violations are found too late</a:t>
            </a:r>
            <a:endParaRPr lang="en-US" sz="1725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solidFill>
            <a:srgbClr val="1D2830"/>
          </a:solidFill>
        </p:spPr>
        <p:txBody>
          <a:bodyPr wrap="square" lIns="203200" tIns="203200" rIns="203200" bIns="203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C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solution: </a:t>
            </a: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 PPE compliance monitoring with computer vision.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D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Objectives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0" y="365760"/>
            <a:ext cx="457200" cy="457200"/>
          </a:xfrm>
          <a:prstGeom prst="ellipse">
            <a:avLst/>
          </a:prstGeom>
          <a:solidFill>
            <a:srgbClr val="F2C500"/>
          </a:solidFill>
          <a:ln w="12700">
            <a:solidFill>
              <a:srgbClr val="F2C5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0" y="3657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43000"/>
            <a:ext cx="40233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FD2CB"/>
            </a:solidFill>
          </a:ln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725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VisionGuard does</a:t>
            </a:r>
            <a:endParaRPr lang="en-US" sz="1725" dirty="0"/>
          </a:p>
          <a:p>
            <a:pPr marL="0" indent="0" algn="l">
              <a:spcAft>
                <a:spcPts val="400"/>
              </a:spcAft>
              <a:buSzPct val="100000"/>
              <a:buNone/>
            </a:pPr>
            <a:r>
              <a:rPr lang="en-US" sz="1435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Detects </a:t>
            </a:r>
            <a:r>
              <a:rPr lang="en-US" sz="1435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workers and PPE in real time</a:t>
            </a:r>
            <a:endParaRPr lang="en-US" sz="1725" dirty="0"/>
          </a:p>
          <a:p>
            <a:pPr marL="0" indent="0" algn="l">
              <a:spcAft>
                <a:spcPts val="400"/>
              </a:spcAft>
              <a:buSzPct val="100000"/>
              <a:buNone/>
            </a:pPr>
            <a:r>
              <a:rPr lang="en-US" sz="1435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Identifies </a:t>
            </a:r>
            <a:r>
              <a:rPr lang="en-US" sz="1435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violations: missing helmet or vest</a:t>
            </a:r>
            <a:endParaRPr lang="en-US" sz="1725" dirty="0"/>
          </a:p>
          <a:p>
            <a:pPr marL="0" indent="0" algn="l">
              <a:spcAft>
                <a:spcPts val="400"/>
              </a:spcAft>
              <a:buSzPct val="100000"/>
              <a:buNone/>
            </a:pPr>
            <a:r>
              <a:rPr lang="en-US" sz="1435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Reports </a:t>
            </a:r>
            <a:r>
              <a:rPr lang="en-US" sz="1435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compliance statistics</a:t>
            </a:r>
            <a:endParaRPr lang="en-US" sz="1725" dirty="0"/>
          </a:p>
          <a:p>
            <a:pPr marL="0" indent="0" algn="l">
              <a:spcAft>
                <a:spcPts val="400"/>
              </a:spcAft>
              <a:buSzPct val="100000"/>
              <a:buNone/>
            </a:pPr>
            <a:r>
              <a:rPr lang="en-US" sz="1435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Exposes </a:t>
            </a:r>
            <a:r>
              <a:rPr lang="en-US" sz="1435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through an API and a UI</a:t>
            </a:r>
            <a:endParaRPr lang="en-US" sz="1725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4663440" y="1143000"/>
          <a:ext cx="4023360" cy="2194560"/>
        </p:xfrm>
        <a:graphic>
          <a:graphicData uri="http://schemas.openxmlformats.org/drawingml/2006/table">
            <a:tbl>
              <a:tblPr/>
              <a:tblGrid>
                <a:gridCol w="914400"/>
                <a:gridCol w="3108960"/>
              </a:tblGrid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Classes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5: Person, Hardhat, NO-Hardhat, Safety Vest, NO-Safety Vest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Input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Images, videos, live camera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Output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Bounding boxes + compliance reports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3749040"/>
            <a:ext cx="2560320" cy="868680"/>
          </a:xfrm>
          <a:prstGeom prst="rect">
            <a:avLst/>
          </a:prstGeom>
          <a:solidFill>
            <a:srgbClr val="FBEFA8"/>
          </a:solidFill>
          <a:ln>
            <a:solidFill>
              <a:srgbClr val="FBEFA8"/>
            </a:solidFill>
          </a:ln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≥ 0.70</a:t>
            </a:r>
            <a:endParaRPr lang="en-US" sz="2400" dirty="0"/>
          </a:p>
          <a:p>
            <a:pPr marL="0" indent="0">
              <a:buNone/>
            </a:pPr>
            <a:r>
              <a:rPr lang="en-US" sz="1300" dirty="0">
                <a:solidFill>
                  <a:srgbClr val="5B68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mAP50 on the test set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3291840" y="3749040"/>
            <a:ext cx="2560320" cy="868680"/>
          </a:xfrm>
          <a:prstGeom prst="rect">
            <a:avLst/>
          </a:prstGeom>
          <a:solidFill>
            <a:srgbClr val="FBEFA8"/>
          </a:solidFill>
          <a:ln>
            <a:solidFill>
              <a:srgbClr val="FBEFA8"/>
            </a:solidFill>
          </a:ln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+ UI</a:t>
            </a:r>
            <a:endParaRPr lang="en-US" sz="2400" dirty="0"/>
          </a:p>
          <a:p>
            <a:pPr marL="0" indent="0">
              <a:buNone/>
            </a:pPr>
            <a:r>
              <a:rPr lang="en-US" sz="1300" dirty="0">
                <a:solidFill>
                  <a:srgbClr val="5B68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working end to end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6126480" y="3749040"/>
            <a:ext cx="2560320" cy="868680"/>
          </a:xfrm>
          <a:prstGeom prst="rect">
            <a:avLst/>
          </a:prstGeom>
          <a:solidFill>
            <a:srgbClr val="FBEFA8"/>
          </a:solidFill>
          <a:ln>
            <a:solidFill>
              <a:srgbClr val="FBEFA8"/>
            </a:solidFill>
          </a:ln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cases</a:t>
            </a:r>
            <a:endParaRPr lang="en-US" sz="2400" dirty="0"/>
          </a:p>
          <a:p>
            <a:pPr marL="0" indent="0">
              <a:buNone/>
            </a:pPr>
            <a:r>
              <a:rPr lang="en-US" sz="1300" dirty="0">
                <a:solidFill>
                  <a:srgbClr val="5B68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documented error analysis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D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0" y="365760"/>
            <a:ext cx="457200" cy="457200"/>
          </a:xfrm>
          <a:prstGeom prst="ellipse">
            <a:avLst/>
          </a:prstGeom>
          <a:solidFill>
            <a:srgbClr val="F2C500"/>
          </a:solidFill>
          <a:ln w="12700">
            <a:solidFill>
              <a:srgbClr val="F2C5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0" y="3657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97280"/>
            <a:ext cx="384048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Construction Site Safety Image Dataset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8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Roboflow via Kaggle · CC BY 4.0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8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2,801 images, all 640×640 (verified)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457200" y="2103120"/>
          <a:ext cx="3840480" cy="1536192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1097280"/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Split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Images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Share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8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Train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2,605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93%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Valid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114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Test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82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0" y="109728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Classes reduced from 10 to 5</a:t>
            </a:r>
            <a:endParaRPr lang="en-US" sz="15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/>
        </p:nvGraphicFramePr>
        <p:xfrm>
          <a:off x="4572000" y="1508760"/>
          <a:ext cx="4114800" cy="2194560"/>
        </p:xfrm>
        <a:graphic>
          <a:graphicData uri="http://schemas.openxmlformats.org/drawingml/2006/table">
            <a:tbl>
              <a:tblPr/>
              <a:tblGrid>
                <a:gridCol w="548640"/>
                <a:gridCol w="1920240"/>
                <a:gridCol w="1645920"/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Class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Purpose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8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Hardhat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PPE present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NO-Hardhat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Violation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NO-Safety Vest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Violation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Person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Detection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Safety Vest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PPE present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D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Challenges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0" y="365760"/>
            <a:ext cx="457200" cy="457200"/>
          </a:xfrm>
          <a:prstGeom prst="ellipse">
            <a:avLst/>
          </a:prstGeom>
          <a:solidFill>
            <a:srgbClr val="F2C500"/>
          </a:solidFill>
          <a:ln w="12700">
            <a:solidFill>
              <a:srgbClr val="F2C5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0" y="3657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457200" y="1143000"/>
          <a:ext cx="3931920" cy="1755648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Class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Count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83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Person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9,532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26.5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NO-Safety Vest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3,962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11.0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Hardhat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3,145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8.8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Safety Vest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3,033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8.4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NO-Hardhat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2,317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6.4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A8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3108960"/>
            <a:ext cx="3931920" cy="1371600"/>
          </a:xfrm>
          <a:prstGeom prst="rect">
            <a:avLst/>
          </a:prstGeom>
          <a:solidFill>
            <a:srgbClr val="FBE9E7"/>
          </a:solidFill>
          <a:ln>
            <a:solidFill>
              <a:srgbClr val="FBE9E7"/>
            </a:solidFill>
          </a:ln>
        </p:spPr>
        <p:txBody>
          <a:bodyPr wrap="square" lIns="177800" tIns="177800" rIns="177800" bIns="17780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63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4×</a:t>
            </a:r>
            <a:endParaRPr lang="en-US" sz="4000" dirty="0"/>
          </a:p>
          <a:p>
            <a:pPr marL="0" indent="0">
              <a:buNone/>
            </a:pPr>
            <a:r>
              <a:rPr lang="en-US" sz="1300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more Person samples than NO-Hardhat</a:t>
            </a:r>
            <a:endParaRPr lang="en-US" sz="4000" dirty="0"/>
          </a:p>
        </p:txBody>
      </p:sp>
      <p:sp>
        <p:nvSpPr>
          <p:cNvPr id="8" name="Text 4"/>
          <p:cNvSpPr txBox="1"/>
          <p:nvPr/>
        </p:nvSpPr>
        <p:spPr>
          <a:xfrm>
            <a:off x="4663440" y="1143000"/>
            <a:ext cx="4023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FD2CB"/>
            </a:solidFill>
          </a:ln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1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Leakage check</a:t>
            </a:r>
            <a:endParaRPr lang="en-US" sz="161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380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Filename prefixes compared across splits: 2.47% overlap, safe.</a:t>
            </a:r>
            <a:endParaRPr lang="en-US" sz="1610" dirty="0"/>
          </a:p>
        </p:txBody>
      </p:sp>
      <p:sp>
        <p:nvSpPr>
          <p:cNvPr id="9" name="Text 5"/>
          <p:cNvSpPr txBox="1"/>
          <p:nvPr/>
        </p:nvSpPr>
        <p:spPr>
          <a:xfrm>
            <a:off x="4663440" y="2331720"/>
            <a:ext cx="4023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FD2CB"/>
            </a:solidFill>
          </a:ln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1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Empty labels</a:t>
            </a:r>
            <a:endParaRPr lang="en-US" sz="161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380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6 · Valid 10 · Test 8. Kept as negative samples.</a:t>
            </a:r>
            <a:endParaRPr lang="en-US" sz="161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3520440"/>
            <a:ext cx="4023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FD2CB"/>
            </a:solidFill>
          </a:ln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1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Out-of-domain images</a:t>
            </a:r>
            <a:endParaRPr lang="en-US" sz="161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380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book covers, 1 Star Trek scene. Documented as a limitation.</a:t>
            </a:r>
            <a:endParaRPr lang="en-US" sz="16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D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Approach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0" y="365760"/>
            <a:ext cx="457200" cy="457200"/>
          </a:xfrm>
          <a:prstGeom prst="ellipse">
            <a:avLst/>
          </a:prstGeom>
          <a:solidFill>
            <a:srgbClr val="F2C500"/>
          </a:solidFill>
          <a:ln w="12700">
            <a:solidFill>
              <a:srgbClr val="F2C5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0" y="3657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457200" y="1143000"/>
          <a:ext cx="3840480" cy="1920240"/>
        </p:xfrm>
        <a:graphic>
          <a:graphicData uri="http://schemas.openxmlformats.org/drawingml/2006/table">
            <a:tbl>
              <a:tblPr/>
              <a:tblGrid>
                <a:gridCol w="1554480"/>
                <a:gridCol w="2286000"/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Model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YOLOv8s (Ultralytics)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Parameters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11.1M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GFLOPs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28.4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Pre-trained 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COCO (80 classes)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Fine-tuned 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Our 5 classes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3"/>
          <p:cNvSpPr txBox="1"/>
          <p:nvPr/>
        </p:nvSpPr>
        <p:spPr>
          <a:xfrm>
            <a:off x="4572000" y="1143000"/>
            <a:ext cx="41148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FD2CB"/>
            </a:solidFill>
          </a:ln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725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YOLOv8s?</a:t>
            </a:r>
            <a:endParaRPr lang="en-US" sz="1725" dirty="0"/>
          </a:p>
          <a:p>
            <a:pPr marL="152400" indent="-152400" algn="l">
              <a:spcAft>
                <a:spcPts val="400"/>
              </a:spcAft>
              <a:buSzPct val="100000"/>
              <a:buChar char="•"/>
            </a:pPr>
            <a:r>
              <a:rPr lang="en-US" sz="1435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Balanced accuracy and speed</a:t>
            </a:r>
            <a:endParaRPr lang="en-US" sz="1725" dirty="0"/>
          </a:p>
          <a:p>
            <a:pPr marL="152400" indent="-152400" algn="l">
              <a:spcAft>
                <a:spcPts val="400"/>
              </a:spcAft>
              <a:buSzPct val="100000"/>
              <a:buChar char="•"/>
            </a:pPr>
            <a:r>
              <a:rPr lang="en-US" sz="1435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Transfer learning from COCO</a:t>
            </a:r>
            <a:endParaRPr lang="en-US" sz="1725" dirty="0"/>
          </a:p>
          <a:p>
            <a:pPr marL="152400" indent="-152400" algn="l">
              <a:spcAft>
                <a:spcPts val="400"/>
              </a:spcAft>
              <a:buSzPct val="100000"/>
              <a:buChar char="•"/>
            </a:pPr>
            <a:r>
              <a:rPr lang="en-US" sz="1435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 on small objects</a:t>
            </a:r>
            <a:endParaRPr lang="en-US" sz="1725" dirty="0"/>
          </a:p>
          <a:p>
            <a:pPr marL="152400" indent="-152400" algn="l">
              <a:spcAft>
                <a:spcPts val="400"/>
              </a:spcAft>
              <a:buSzPct val="100000"/>
              <a:buChar char="•"/>
            </a:pPr>
            <a:r>
              <a:rPr lang="en-US" sz="1435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 inference, ~10 ms on GPU</a:t>
            </a:r>
            <a:endParaRPr lang="en-US" sz="1725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3337560"/>
            <a:ext cx="8229600" cy="1188720"/>
          </a:xfrm>
          <a:prstGeom prst="rect">
            <a:avLst/>
          </a:prstGeom>
          <a:solidFill>
            <a:srgbClr val="FBE9E7"/>
          </a:solidFill>
          <a:ln w="9525">
            <a:solidFill>
              <a:srgbClr val="FBE9E7"/>
            </a:solidFill>
          </a:ln>
        </p:spPr>
        <p:txBody>
          <a:bodyPr wrap="square" lIns="152400" tIns="152400" rIns="152400" bIns="1524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725" b="1" dirty="0">
                <a:solidFill>
                  <a:srgbClr val="C63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not a pre-trained API?</a:t>
            </a:r>
            <a:endParaRPr lang="en-US" sz="1725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35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ready-made PPE detection model exists.</a:t>
            </a:r>
            <a:endParaRPr lang="en-US" sz="1725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35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project requires custom training, and YOLOv8s is trainable and adaptable.</a:t>
            </a:r>
            <a:endParaRPr lang="en-US" sz="17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D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Methodology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0" y="365760"/>
            <a:ext cx="457200" cy="457200"/>
          </a:xfrm>
          <a:prstGeom prst="ellipse">
            <a:avLst/>
          </a:prstGeom>
          <a:solidFill>
            <a:srgbClr val="F2C500"/>
          </a:solidFill>
          <a:ln w="12700">
            <a:solidFill>
              <a:srgbClr val="F2C5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0" y="3657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9728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1D2830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 data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920240" y="1097280"/>
            <a:ext cx="228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8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2148840" y="109728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1D2830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3611880" y="1097280"/>
            <a:ext cx="228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8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3840480" y="109728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F2C500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097280"/>
            <a:ext cx="228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8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532120" y="109728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1D2830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995160" y="1097280"/>
            <a:ext cx="228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8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7223760" y="109728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1D2830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1874520"/>
            <a:ext cx="402336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CFD2CB"/>
            </a:solidFill>
          </a:ln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725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Preprocessing and training</a:t>
            </a:r>
            <a:endParaRPr lang="en-US" sz="1725" dirty="0"/>
          </a:p>
          <a:p>
            <a:pPr marL="152400" indent="-152400" algn="l">
              <a:spcAft>
                <a:spcPts val="400"/>
              </a:spcAft>
              <a:buSzPct val="100000"/>
              <a:buChar char="•"/>
            </a:pPr>
            <a:r>
              <a:rPr lang="en-US" sz="1435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Remap 10 classes to 5, remove out-of-scope labels, generate data.yaml</a:t>
            </a:r>
            <a:endParaRPr lang="en-US" sz="1725" dirty="0"/>
          </a:p>
          <a:p>
            <a:pPr marL="152400" indent="-152400" algn="l">
              <a:spcAft>
                <a:spcPts val="400"/>
              </a:spcAft>
              <a:buSzPct val="100000"/>
              <a:buChar char="•"/>
            </a:pPr>
            <a:r>
              <a:rPr lang="en-US" sz="1435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Transfer learning from COCO weights</a:t>
            </a:r>
            <a:endParaRPr lang="en-US" sz="1725" dirty="0"/>
          </a:p>
          <a:p>
            <a:pPr marL="152400" indent="-152400" algn="l">
              <a:spcAft>
                <a:spcPts val="400"/>
              </a:spcAft>
              <a:buSzPct val="100000"/>
              <a:buChar char="•"/>
            </a:pPr>
            <a:r>
              <a:rPr lang="en-US" sz="1435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 epochs · batch 16 · imgsz 640</a:t>
            </a:r>
            <a:endParaRPr lang="en-US" sz="1725" dirty="0"/>
          </a:p>
          <a:p>
            <a:pPr marL="152400" indent="-152400" algn="l">
              <a:spcAft>
                <a:spcPts val="400"/>
              </a:spcAft>
              <a:buSzPct val="100000"/>
              <a:buChar char="•"/>
            </a:pPr>
            <a:r>
              <a:rPr lang="en-US" sz="1435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Augmentation: mosaic, flip, HSV</a:t>
            </a:r>
            <a:endParaRPr lang="en-US" sz="1725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725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Deployment</a:t>
            </a:r>
            <a:endParaRPr lang="en-US" sz="1725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35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· Streamlit · WebRTC</a:t>
            </a:r>
            <a:endParaRPr lang="en-US" sz="1725" dirty="0"/>
          </a:p>
        </p:txBody>
      </p:sp>
      <p:sp>
        <p:nvSpPr>
          <p:cNvPr id="16" name="Text 13"/>
          <p:cNvSpPr txBox="1"/>
          <p:nvPr/>
        </p:nvSpPr>
        <p:spPr>
          <a:xfrm>
            <a:off x="4663440" y="1874520"/>
            <a:ext cx="40233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FD2CB"/>
            </a:solidFill>
          </a:ln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725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Compliance logic: Point-in-Box</a:t>
            </a:r>
            <a:endParaRPr lang="en-US" sz="1725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35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PPE item counts for a person if its center falls inside the Person box.</a:t>
            </a:r>
            <a:endParaRPr lang="en-US" sz="1725" dirty="0"/>
          </a:p>
        </p:txBody>
      </p:sp>
      <p:sp>
        <p:nvSpPr>
          <p:cNvPr id="17" name="Text 14"/>
          <p:cNvSpPr txBox="1"/>
          <p:nvPr/>
        </p:nvSpPr>
        <p:spPr>
          <a:xfrm>
            <a:off x="4663440" y="3337560"/>
            <a:ext cx="4023360" cy="1188720"/>
          </a:xfrm>
          <a:prstGeom prst="rect">
            <a:avLst/>
          </a:prstGeom>
          <a:solidFill>
            <a:srgbClr val="FBEFA8"/>
          </a:solidFill>
          <a:ln w="9525">
            <a:solidFill>
              <a:srgbClr val="FBEFA8"/>
            </a:solidFill>
          </a:ln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725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not IoU?</a:t>
            </a:r>
            <a:endParaRPr lang="en-US" sz="1725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35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Person (300×500) + Hardhat (40×30) gives IoU below 0.05 even when the match is correct.</a:t>
            </a:r>
            <a:endParaRPr lang="en-US" sz="17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D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Experiments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0" y="365760"/>
            <a:ext cx="457200" cy="457200"/>
          </a:xfrm>
          <a:prstGeom prst="ellipse">
            <a:avLst/>
          </a:prstGeom>
          <a:solidFill>
            <a:srgbClr val="F2C500"/>
          </a:solidFill>
          <a:ln w="12700">
            <a:solidFill>
              <a:srgbClr val="F2C5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0" y="3657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457200" y="1097280"/>
          <a:ext cx="8229600" cy="1828800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914400"/>
                <a:gridCol w="1554480"/>
                <a:gridCol w="1463040"/>
                <a:gridCol w="1645920"/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Run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Model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Epochs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Augmentation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mAP50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mAP50-95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8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Baseline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YOLOv8n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None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0.003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0.001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Exp 1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YOLOv8n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25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Default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0.773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0.437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Exp 2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YOLOv8n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35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Aggressive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0.714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0.323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Exp 3 (best)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YOLOv8s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35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Default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0.830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0.534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A8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3200400"/>
            <a:ext cx="2560320" cy="1325880"/>
          </a:xfrm>
          <a:prstGeom prst="rect">
            <a:avLst/>
          </a:prstGeom>
          <a:solidFill>
            <a:srgbClr val="E3F1EA"/>
          </a:solidFill>
          <a:ln>
            <a:solidFill>
              <a:srgbClr val="E3F1EA"/>
            </a:solidFill>
          </a:ln>
        </p:spPr>
        <p:txBody>
          <a:bodyPr wrap="square" lIns="152400" tIns="152400" rIns="152400" bIns="15240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 1: strong baseline</a:t>
            </a:r>
            <a:endParaRPr lang="en-US" sz="1600" dirty="0"/>
          </a:p>
          <a:p>
            <a:pPr marL="0" indent="0">
              <a:buNone/>
            </a:pPr>
            <a:r>
              <a:rPr lang="en-US" sz="1350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mAP50 0.773, which is 270× better than the zero-shot baseline.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3291840" y="3200400"/>
            <a:ext cx="2560320" cy="1325880"/>
          </a:xfrm>
          <a:prstGeom prst="rect">
            <a:avLst/>
          </a:prstGeom>
          <a:solidFill>
            <a:srgbClr val="FBE9E7"/>
          </a:solidFill>
          <a:ln>
            <a:solidFill>
              <a:srgbClr val="FBE9E7"/>
            </a:solidFill>
          </a:ln>
        </p:spPr>
        <p:txBody>
          <a:bodyPr wrap="square" lIns="152400" tIns="152400" rIns="152400" bIns="15240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 2: too much augmentation</a:t>
            </a:r>
            <a:endParaRPr lang="en-US" sz="1600" dirty="0"/>
          </a:p>
          <a:p>
            <a:pPr marL="0" indent="0">
              <a:buNone/>
            </a:pPr>
            <a:r>
              <a:rPr lang="en-US" sz="1350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mixup + degrees=15 + scale=0.6 dropped mAP50 to 0.714. More is not better.</a:t>
            </a:r>
            <a:endParaRPr lang="en-US" sz="1600" dirty="0"/>
          </a:p>
        </p:txBody>
      </p:sp>
      <p:sp>
        <p:nvSpPr>
          <p:cNvPr id="5" name="Text 5"/>
          <p:cNvSpPr txBox="1"/>
          <p:nvPr/>
        </p:nvSpPr>
        <p:spPr>
          <a:xfrm>
            <a:off x="6126480" y="3200400"/>
            <a:ext cx="2560320" cy="1325880"/>
          </a:xfrm>
          <a:prstGeom prst="rect">
            <a:avLst/>
          </a:prstGeom>
          <a:solidFill>
            <a:srgbClr val="FBEFA8"/>
          </a:solidFill>
          <a:ln>
            <a:solidFill>
              <a:srgbClr val="FBEFA8"/>
            </a:solidFill>
          </a:ln>
        </p:spPr>
        <p:txBody>
          <a:bodyPr wrap="square" lIns="152400" tIns="152400" rIns="152400" bIns="15240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 3: bigger model wins</a:t>
            </a:r>
            <a:endParaRPr lang="en-US" sz="1600" dirty="0"/>
          </a:p>
          <a:p>
            <a:pPr marL="0" indent="0">
              <a:buNone/>
            </a:pPr>
            <a:r>
              <a:rPr lang="en-US" sz="1350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YOLOv8s (11M params) reached 0.830 on validation and 0.811 on the test set.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D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on the Test Set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0" y="365760"/>
            <a:ext cx="457200" cy="457200"/>
          </a:xfrm>
          <a:prstGeom prst="ellipse">
            <a:avLst/>
          </a:prstGeom>
          <a:solidFill>
            <a:srgbClr val="F2C500"/>
          </a:solidFill>
          <a:ln w="12700">
            <a:solidFill>
              <a:srgbClr val="F2C5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0" y="3657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97280"/>
            <a:ext cx="1920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FD2CB"/>
            </a:solidFill>
          </a:ln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0.811</a:t>
            </a:r>
            <a:endParaRPr lang="en-US" sz="2800" dirty="0"/>
          </a:p>
          <a:p>
            <a:pPr marL="0" indent="0">
              <a:buNone/>
            </a:pPr>
            <a:r>
              <a:rPr lang="en-US" sz="1200" dirty="0">
                <a:solidFill>
                  <a:srgbClr val="5B68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mAP50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2560320" y="1097280"/>
            <a:ext cx="1920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FD2CB"/>
            </a:solidFill>
          </a:ln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0.517</a:t>
            </a:r>
            <a:endParaRPr lang="en-US" sz="2800" dirty="0"/>
          </a:p>
          <a:p>
            <a:pPr marL="0" indent="0">
              <a:buNone/>
            </a:pPr>
            <a:r>
              <a:rPr lang="en-US" sz="1200" dirty="0">
                <a:solidFill>
                  <a:srgbClr val="5B68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mAP50-95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1097280"/>
            <a:ext cx="1920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FD2CB"/>
            </a:solidFill>
          </a:ln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0.903</a:t>
            </a:r>
            <a:endParaRPr lang="en-US" sz="2800" dirty="0"/>
          </a:p>
          <a:p>
            <a:pPr marL="0" indent="0">
              <a:buNone/>
            </a:pPr>
            <a:r>
              <a:rPr lang="en-US" sz="1200" dirty="0">
                <a:solidFill>
                  <a:srgbClr val="5B68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Precision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766560" y="1097280"/>
            <a:ext cx="1920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FD2CB"/>
            </a:solidFill>
          </a:ln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0.777</a:t>
            </a:r>
            <a:endParaRPr lang="en-US" sz="2800" dirty="0"/>
          </a:p>
          <a:p>
            <a:pPr marL="0" indent="0">
              <a:buNone/>
            </a:pPr>
            <a:r>
              <a:rPr lang="en-US" sz="1200" dirty="0">
                <a:solidFill>
                  <a:srgbClr val="5B68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Recall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1031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mAP50 per class</a:t>
            </a:r>
            <a:endParaRPr lang="en-US" sz="13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57200" y="2331720"/>
          <a:ext cx="822960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D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Error Analysis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0" y="365760"/>
            <a:ext cx="457200" cy="457200"/>
          </a:xfrm>
          <a:prstGeom prst="ellipse">
            <a:avLst/>
          </a:prstGeom>
          <a:solidFill>
            <a:srgbClr val="F2C500"/>
          </a:solidFill>
          <a:ln w="12700">
            <a:solidFill>
              <a:srgbClr val="F2C5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0" y="3657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457200" y="1097280"/>
          <a:ext cx="4023360" cy="1243584"/>
        </p:xfrm>
        <a:graphic>
          <a:graphicData uri="http://schemas.openxmlformats.org/drawingml/2006/table">
            <a:tbl>
              <a:tblPr/>
              <a:tblGrid>
                <a:gridCol w="2926080"/>
                <a:gridCol w="1097280"/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Error type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Count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83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False positives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False negatives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Misclassifications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/>
        </p:nvGraphicFramePr>
        <p:xfrm>
          <a:off x="4663440" y="1097280"/>
          <a:ext cx="4023360" cy="1554480"/>
        </p:xfrm>
        <a:graphic>
          <a:graphicData uri="http://schemas.openxmlformats.org/drawingml/2006/table">
            <a:tbl>
              <a:tblPr/>
              <a:tblGrid>
                <a:gridCol w="2926080"/>
                <a:gridCol w="1097280"/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Root cause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Count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83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Crowded scenes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Small objects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Unusual context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Challenging lighting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457200" y="2926080"/>
            <a:ext cx="256032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2CB"/>
            </a:solidFill>
          </a:ln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1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 3: tunnel</a:t>
            </a:r>
            <a:endParaRPr lang="en-US" sz="161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380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yellow hardhat on yellow machinery was missed, causing a false "Missing Helmet" alarm.</a:t>
            </a:r>
            <a:endParaRPr lang="en-US" sz="1610" dirty="0"/>
          </a:p>
        </p:txBody>
      </p:sp>
      <p:sp>
        <p:nvSpPr>
          <p:cNvPr id="9" name="Text 4"/>
          <p:cNvSpPr txBox="1"/>
          <p:nvPr/>
        </p:nvSpPr>
        <p:spPr>
          <a:xfrm>
            <a:off x="3291840" y="2926080"/>
            <a:ext cx="256032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2CB"/>
            </a:solidFill>
          </a:ln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1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 6: 15 workers</a:t>
            </a:r>
            <a:endParaRPr lang="en-US" sz="161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380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 persons missed because NMS removed valid detections in the crowd.</a:t>
            </a:r>
            <a:endParaRPr lang="en-US" sz="1610" dirty="0"/>
          </a:p>
        </p:txBody>
      </p:sp>
      <p:sp>
        <p:nvSpPr>
          <p:cNvPr id="10" name="Text 5"/>
          <p:cNvSpPr txBox="1"/>
          <p:nvPr/>
        </p:nvSpPr>
        <p:spPr>
          <a:xfrm>
            <a:off x="6126480" y="2926080"/>
            <a:ext cx="256032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2CB"/>
            </a:solidFill>
          </a:ln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1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 9: bookstore</a:t>
            </a:r>
            <a:endParaRPr lang="en-US" sz="161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380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False positives, caused by non-construction images in the dataset.</a:t>
            </a:r>
            <a:endParaRPr lang="en-US" sz="16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D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0" y="365760"/>
            <a:ext cx="457200" cy="457200"/>
          </a:xfrm>
          <a:prstGeom prst="ellipse">
            <a:avLst/>
          </a:prstGeom>
          <a:solidFill>
            <a:srgbClr val="F2C500"/>
          </a:solidFill>
          <a:ln w="12700">
            <a:solidFill>
              <a:srgbClr val="F2C5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0" y="3657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43000"/>
            <a:ext cx="3931920" cy="777240"/>
          </a:xfrm>
          <a:prstGeom prst="rect">
            <a:avLst/>
          </a:prstGeom>
          <a:solidFill>
            <a:srgbClr val="1D2830"/>
          </a:solidFill>
        </p:spPr>
        <p:txBody>
          <a:bodyPr wrap="square" lIns="177800" tIns="177800" rIns="177800" bIns="1778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 UI · port 8501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D5DC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 · Video · Live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938528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8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331720"/>
            <a:ext cx="3931920" cy="777240"/>
          </a:xfrm>
          <a:prstGeom prst="rect">
            <a:avLst/>
          </a:prstGeom>
          <a:solidFill>
            <a:srgbClr val="1D2830"/>
          </a:solidFill>
        </p:spPr>
        <p:txBody>
          <a:bodyPr wrap="square" lIns="177800" tIns="177800" rIns="177800" bIns="1778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backend · port 8000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D5DC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 /analyze · /analyze-video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127248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8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520440"/>
            <a:ext cx="3931920" cy="777240"/>
          </a:xfrm>
          <a:prstGeom prst="rect">
            <a:avLst/>
          </a:prstGeom>
          <a:solidFill>
            <a:srgbClr val="F2C500"/>
          </a:solidFill>
        </p:spPr>
        <p:txBody>
          <a:bodyPr wrap="square" lIns="177800" tIns="177800" rIns="177800" bIns="1778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pipeline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YOLOv8s → detections → compliance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4663440" y="1143000"/>
          <a:ext cx="4023360" cy="2468880"/>
        </p:xfrm>
        <a:graphic>
          <a:graphicData uri="http://schemas.openxmlformats.org/drawingml/2006/table">
            <a:tbl>
              <a:tblPr/>
              <a:tblGrid>
                <a:gridCol w="1463040"/>
                <a:gridCol w="2560320"/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Component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8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Purpose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8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Streamlit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User interface (4 tabs)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FastAPI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REST API backend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WebRTC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Real-time camera inference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YOLOv8s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Object detection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Compliance logic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D28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Violation decision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D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Demo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0" y="365760"/>
            <a:ext cx="457200" cy="457200"/>
          </a:xfrm>
          <a:prstGeom prst="ellipse">
            <a:avLst/>
          </a:prstGeom>
          <a:solidFill>
            <a:srgbClr val="F2C500"/>
          </a:solidFill>
          <a:ln w="12700">
            <a:solidFill>
              <a:srgbClr val="F2C5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0" y="3657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25603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FD2C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F2C500"/>
          </a:solidFill>
          <a:ln w="12700">
            <a:solidFill>
              <a:srgbClr val="F2C50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87452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 analysis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Upload an image and get a compliance report.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91840" y="1143000"/>
            <a:ext cx="25603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FD2C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74720" y="1325880"/>
            <a:ext cx="457200" cy="457200"/>
          </a:xfrm>
          <a:prstGeom prst="ellipse">
            <a:avLst/>
          </a:prstGeom>
          <a:solidFill>
            <a:srgbClr val="F2C500"/>
          </a:solidFill>
          <a:ln w="12700">
            <a:solidFill>
              <a:srgbClr val="F2C50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474720" y="13258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474720" y="187452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Video analysis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Upload a video and get unique persons and violations.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126480" y="1143000"/>
            <a:ext cx="25603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FD2C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09360" y="1325880"/>
            <a:ext cx="457200" cy="457200"/>
          </a:xfrm>
          <a:prstGeom prst="ellipse">
            <a:avLst/>
          </a:prstGeom>
          <a:solidFill>
            <a:srgbClr val="F2C500"/>
          </a:solidFill>
          <a:ln w="12700">
            <a:solidFill>
              <a:srgbClr val="F2C50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09360" y="13258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309360" y="187452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camera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detection from the webcam.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solidFill>
            <a:srgbClr val="FBEFA8"/>
          </a:solidFill>
          <a:ln w="9525">
            <a:solidFill>
              <a:srgbClr val="FBEFA8"/>
            </a:solidFill>
          </a:ln>
        </p:spPr>
        <p:txBody>
          <a:bodyPr wrap="square" lIns="152400" tIns="152400" rIns="152400" bIns="15240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95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UI: </a:t>
            </a:r>
            <a:r>
              <a:rPr lang="en-US" sz="1495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localhost:8501</a:t>
            </a:r>
            <a:endParaRPr lang="en-US" sz="1495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95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docs: </a:t>
            </a:r>
            <a:r>
              <a:rPr lang="en-US" sz="1495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localhost:8000/docs</a:t>
            </a:r>
            <a:endParaRPr lang="en-US" sz="1495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95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GitHub: </a:t>
            </a:r>
            <a:r>
              <a:rPr lang="en-US" sz="1495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github.com/shimaagomaa446-sys/VisionGuard</a:t>
            </a:r>
            <a:endParaRPr lang="en-US" sz="149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D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0" y="365760"/>
            <a:ext cx="457200" cy="457200"/>
          </a:xfrm>
          <a:prstGeom prst="ellipse">
            <a:avLst/>
          </a:prstGeom>
          <a:solidFill>
            <a:srgbClr val="F2C500"/>
          </a:solidFill>
          <a:ln w="12700">
            <a:solidFill>
              <a:srgbClr val="F2C5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0" y="3657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97280"/>
            <a:ext cx="402336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2CB"/>
            </a:solidFill>
          </a:ln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725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</a:t>
            </a:r>
            <a:endParaRPr lang="en-US" sz="1725" dirty="0"/>
          </a:p>
          <a:p>
            <a:pPr marL="152400" indent="-152400" algn="l">
              <a:spcAft>
                <a:spcPts val="400"/>
              </a:spcAft>
              <a:buSzPct val="100000"/>
              <a:buChar char="•"/>
            </a:pPr>
            <a:r>
              <a:rPr lang="en-US" sz="1380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Crowded scenes (&gt;10 workers): accuracy drops</a:t>
            </a:r>
            <a:endParaRPr lang="en-US" sz="1725" dirty="0"/>
          </a:p>
          <a:p>
            <a:pPr marL="152400" indent="-152400" algn="l">
              <a:spcAft>
                <a:spcPts val="400"/>
              </a:spcAft>
              <a:buSzPct val="100000"/>
              <a:buChar char="•"/>
            </a:pPr>
            <a:r>
              <a:rPr lang="en-US" sz="1380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Small objects (&lt;2% of image): hardhats missed</a:t>
            </a:r>
            <a:endParaRPr lang="en-US" sz="1725" dirty="0"/>
          </a:p>
          <a:p>
            <a:pPr marL="152400" indent="-152400" algn="l">
              <a:spcAft>
                <a:spcPts val="400"/>
              </a:spcAft>
              <a:buSzPct val="100000"/>
              <a:buChar char="•"/>
            </a:pPr>
            <a:r>
              <a:rPr lang="en-US" sz="1380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NO-Hardhat mAP50 = 0.547 (class imbalance)</a:t>
            </a:r>
            <a:endParaRPr lang="en-US" sz="1725" dirty="0"/>
          </a:p>
          <a:p>
            <a:pPr marL="152400" indent="-152400" algn="l">
              <a:spcAft>
                <a:spcPts val="400"/>
              </a:spcAft>
              <a:buSzPct val="100000"/>
              <a:buChar char="•"/>
            </a:pPr>
            <a:r>
              <a:rPr lang="en-US" sz="1380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Non-construction images cause false positives</a:t>
            </a:r>
            <a:endParaRPr lang="en-US" sz="1725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725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</a:t>
            </a:r>
            <a:endParaRPr lang="en-US" sz="1725" dirty="0"/>
          </a:p>
          <a:p>
            <a:pPr marL="152400" indent="-152400" algn="l">
              <a:spcAft>
                <a:spcPts val="400"/>
              </a:spcAft>
              <a:buSzPct val="100000"/>
              <a:buChar char="•"/>
            </a:pPr>
            <a:r>
              <a:rPr lang="en-US" sz="1380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time only ~3–8 FPS on CPU</a:t>
            </a:r>
            <a:endParaRPr lang="en-US" sz="1725" dirty="0"/>
          </a:p>
          <a:p>
            <a:pPr marL="152400" indent="-152400" algn="l">
              <a:spcAft>
                <a:spcPts val="400"/>
              </a:spcAft>
              <a:buSzPct val="100000"/>
              <a:buChar char="•"/>
            </a:pPr>
            <a:r>
              <a:rPr lang="en-US" sz="1380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Video sampled every 5 frames</a:t>
            </a:r>
            <a:endParaRPr lang="en-US" sz="1725" dirty="0"/>
          </a:p>
          <a:p>
            <a:pPr marL="152400" indent="-152400" algn="l">
              <a:spcAft>
                <a:spcPts val="400"/>
              </a:spcAft>
              <a:buSzPct val="100000"/>
              <a:buChar char="•"/>
            </a:pPr>
            <a:r>
              <a:rPr lang="en-US" sz="1380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set of 82 images is small</a:t>
            </a:r>
            <a:endParaRPr lang="en-US" sz="1725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1097280"/>
            <a:ext cx="40233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2CB"/>
            </a:solidFill>
          </a:ln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725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Compliance logic</a:t>
            </a:r>
            <a:endParaRPr lang="en-US" sz="1725" dirty="0"/>
          </a:p>
          <a:p>
            <a:pPr marL="152400" indent="-152400" algn="l">
              <a:spcAft>
                <a:spcPts val="400"/>
              </a:spcAft>
              <a:buSzPct val="100000"/>
              <a:buChar char="•"/>
            </a:pPr>
            <a:r>
              <a:rPr lang="en-US" sz="1380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Point-in-Box struggles with overlapping persons</a:t>
            </a:r>
            <a:endParaRPr lang="en-US" sz="1725" dirty="0"/>
          </a:p>
          <a:p>
            <a:pPr marL="152400" indent="-152400" algn="l">
              <a:spcAft>
                <a:spcPts val="400"/>
              </a:spcAft>
              <a:buSzPct val="100000"/>
              <a:buChar char="•"/>
            </a:pPr>
            <a:r>
              <a:rPr lang="en-US" sz="1380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False negatives become false alarms</a:t>
            </a:r>
            <a:endParaRPr lang="en-US" sz="1725" dirty="0"/>
          </a:p>
          <a:p>
            <a:pPr marL="152400" indent="-152400" algn="l">
              <a:spcAft>
                <a:spcPts val="400"/>
              </a:spcAft>
              <a:buSzPct val="100000"/>
              <a:buChar char="•"/>
            </a:pPr>
            <a:r>
              <a:rPr lang="en-US" sz="1380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temporal smoothing for video</a:t>
            </a:r>
            <a:endParaRPr lang="en-US" sz="1725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2880360"/>
            <a:ext cx="4023360" cy="1645920"/>
          </a:xfrm>
          <a:prstGeom prst="rect">
            <a:avLst/>
          </a:prstGeom>
          <a:solidFill>
            <a:srgbClr val="FBE9E7"/>
          </a:solidFill>
          <a:ln w="9525">
            <a:solidFill>
              <a:srgbClr val="FBE9E7"/>
            </a:solidFill>
          </a:ln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725" b="1" dirty="0">
                <a:solidFill>
                  <a:srgbClr val="C63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Honest assessment</a:t>
            </a:r>
            <a:endParaRPr lang="en-US" sz="1725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35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NO-Hardhat at 0.547 is not acceptable for production. Missing 41% of violations is critical in a safety application.</a:t>
            </a:r>
            <a:endParaRPr lang="en-US" sz="17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D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Work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0" y="365760"/>
            <a:ext cx="457200" cy="457200"/>
          </a:xfrm>
          <a:prstGeom prst="ellipse">
            <a:avLst/>
          </a:prstGeom>
          <a:solidFill>
            <a:srgbClr val="F2C500"/>
          </a:solidFill>
          <a:ln w="12700">
            <a:solidFill>
              <a:srgbClr val="F2C5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0" y="3657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43000"/>
            <a:ext cx="256032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FD2CB"/>
            </a:solidFill>
          </a:ln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955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</a:t>
            </a:r>
            <a:endParaRPr lang="en-US" sz="1955" dirty="0"/>
          </a:p>
          <a:p>
            <a:pPr marL="152400" indent="-152400" algn="l">
              <a:spcAft>
                <a:spcPts val="400"/>
              </a:spcAft>
              <a:buSzPct val="100000"/>
              <a:buChar char="•"/>
            </a:pPr>
            <a:r>
              <a:rPr lang="en-US" sz="1495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YOLOv8m/l</a:t>
            </a:r>
            <a:endParaRPr lang="en-US" sz="1955" dirty="0"/>
          </a:p>
          <a:p>
            <a:pPr marL="152400" indent="-152400" algn="l">
              <a:spcAft>
                <a:spcPts val="400"/>
              </a:spcAft>
              <a:buSzPct val="100000"/>
              <a:buChar char="•"/>
            </a:pPr>
            <a:r>
              <a:rPr lang="en-US" sz="1495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Higher resolution (800–1024)</a:t>
            </a:r>
            <a:endParaRPr lang="en-US" sz="1955" dirty="0"/>
          </a:p>
          <a:p>
            <a:pPr marL="152400" indent="-152400" algn="l">
              <a:spcAft>
                <a:spcPts val="400"/>
              </a:spcAft>
              <a:buSzPct val="100000"/>
              <a:buChar char="•"/>
            </a:pPr>
            <a:r>
              <a:rPr lang="en-US" sz="1495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Augmentation aimed at crowds</a:t>
            </a:r>
            <a:endParaRPr lang="en-US" sz="1955" dirty="0"/>
          </a:p>
          <a:p>
            <a:pPr marL="152400" indent="-152400" algn="l">
              <a:spcAft>
                <a:spcPts val="400"/>
              </a:spcAft>
              <a:buSzPct val="100000"/>
              <a:buChar char="•"/>
            </a:pPr>
            <a:r>
              <a:rPr lang="en-US" sz="1495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 negative mining</a:t>
            </a:r>
            <a:endParaRPr lang="en-US" sz="1955" dirty="0"/>
          </a:p>
          <a:p>
            <a:pPr marL="152400" indent="-152400" algn="l">
              <a:spcAft>
                <a:spcPts val="400"/>
              </a:spcAft>
              <a:buSzPct val="100000"/>
              <a:buChar char="•"/>
            </a:pPr>
            <a:r>
              <a:rPr lang="en-US" sz="1495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 NO-Hardhat imbalance</a:t>
            </a:r>
            <a:endParaRPr lang="en-US" sz="1955" dirty="0"/>
          </a:p>
        </p:txBody>
      </p:sp>
      <p:sp>
        <p:nvSpPr>
          <p:cNvPr id="7" name="Text 4"/>
          <p:cNvSpPr txBox="1"/>
          <p:nvPr/>
        </p:nvSpPr>
        <p:spPr>
          <a:xfrm>
            <a:off x="3291840" y="1143000"/>
            <a:ext cx="256032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FD2CB"/>
            </a:solidFill>
          </a:ln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955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</a:t>
            </a:r>
            <a:endParaRPr lang="en-US" sz="1955" dirty="0"/>
          </a:p>
          <a:p>
            <a:pPr marL="152400" indent="-152400" algn="l">
              <a:spcAft>
                <a:spcPts val="400"/>
              </a:spcAft>
              <a:buSzPct val="100000"/>
              <a:buChar char="•"/>
            </a:pPr>
            <a:r>
              <a:rPr lang="en-US" sz="1495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Temporal smoothing</a:t>
            </a:r>
            <a:endParaRPr lang="en-US" sz="1955" dirty="0"/>
          </a:p>
          <a:p>
            <a:pPr marL="152400" indent="-152400" algn="l">
              <a:spcAft>
                <a:spcPts val="400"/>
              </a:spcAft>
              <a:buSzPct val="100000"/>
              <a:buChar char="•"/>
            </a:pPr>
            <a:r>
              <a:rPr lang="en-US" sz="1495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TensorRT, 5–10× faster</a:t>
            </a:r>
            <a:endParaRPr lang="en-US" sz="1955" dirty="0"/>
          </a:p>
          <a:p>
            <a:pPr marL="152400" indent="-152400" algn="l">
              <a:spcAft>
                <a:spcPts val="400"/>
              </a:spcAft>
              <a:buSzPct val="100000"/>
              <a:buChar char="•"/>
            </a:pPr>
            <a:r>
              <a:rPr lang="en-US" sz="1495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Auto-refresh live summary</a:t>
            </a:r>
            <a:endParaRPr lang="en-US" sz="1955" dirty="0"/>
          </a:p>
          <a:p>
            <a:pPr marL="152400" indent="-152400" algn="l">
              <a:spcAft>
                <a:spcPts val="400"/>
              </a:spcAft>
              <a:buSzPct val="100000"/>
              <a:buChar char="•"/>
            </a:pPr>
            <a:r>
              <a:rPr lang="en-US" sz="1495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 / SMS alerts</a:t>
            </a:r>
            <a:endParaRPr lang="en-US" sz="1955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1143000"/>
            <a:ext cx="256032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FD2CB"/>
            </a:solidFill>
          </a:ln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955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</a:t>
            </a:r>
            <a:endParaRPr lang="en-US" sz="1955" dirty="0"/>
          </a:p>
          <a:p>
            <a:pPr marL="152400" indent="-152400" algn="l">
              <a:spcAft>
                <a:spcPts val="400"/>
              </a:spcAft>
              <a:buSzPct val="100000"/>
              <a:buChar char="•"/>
            </a:pPr>
            <a:r>
              <a:rPr lang="en-US" sz="1495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 out-of-domain images</a:t>
            </a:r>
            <a:endParaRPr lang="en-US" sz="1955" dirty="0"/>
          </a:p>
          <a:p>
            <a:pPr marL="152400" indent="-152400" algn="l">
              <a:spcAft>
                <a:spcPts val="400"/>
              </a:spcAft>
              <a:buSzPct val="100000"/>
              <a:buChar char="•"/>
            </a:pPr>
            <a:r>
              <a:rPr lang="en-US" sz="1495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More NO-Hardhat samples</a:t>
            </a:r>
            <a:endParaRPr lang="en-US" sz="1955" dirty="0"/>
          </a:p>
          <a:p>
            <a:pPr marL="152400" indent="-152400" algn="l">
              <a:spcAft>
                <a:spcPts val="400"/>
              </a:spcAft>
              <a:buSzPct val="100000"/>
              <a:buChar char="•"/>
            </a:pPr>
            <a:r>
              <a:rPr lang="en-US" sz="1495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More crowded scenes</a:t>
            </a:r>
            <a:endParaRPr lang="en-US" sz="1955" dirty="0"/>
          </a:p>
          <a:p>
            <a:pPr marL="152400" indent="-152400" algn="l">
              <a:spcAft>
                <a:spcPts val="400"/>
              </a:spcAft>
              <a:buSzPct val="100000"/>
              <a:buChar char="•"/>
            </a:pPr>
            <a:r>
              <a:rPr lang="en-US" sz="1495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Gloves, goggles, masks</a:t>
            </a:r>
            <a:endParaRPr lang="en-US" sz="195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C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4023360" cy="173736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25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 delivered</a:t>
            </a:r>
            <a:endParaRPr lang="en-US" sz="1725" dirty="0">
              <a:solidFill>
                <a:schemeClr val="bg1"/>
              </a:solidFill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665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Custom-</a:t>
            </a:r>
            <a:r>
              <a:rPr lang="en-US" sz="1725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trained </a:t>
            </a:r>
            <a:r>
              <a:rPr lang="en-US" sz="1665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YOLOv8s, not a pre-trained API</a:t>
            </a:r>
            <a:endParaRPr lang="en-US" sz="1725" dirty="0">
              <a:solidFill>
                <a:schemeClr val="bg1"/>
              </a:solidFill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665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mAP50 = 0.811 on the test set</a:t>
            </a:r>
            <a:endParaRPr lang="en-US" sz="1725" dirty="0">
              <a:solidFill>
                <a:schemeClr val="bg1"/>
              </a:solidFill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665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pipeline: data → </a:t>
            </a:r>
            <a:r>
              <a:rPr lang="en-US" altLang="en-US" sz="1725" dirty="0">
                <a:solidFill>
                  <a:schemeClr val="bg1"/>
                </a:solidFill>
              </a:rPr>
              <a:t>training </a:t>
            </a:r>
            <a:r>
              <a:rPr lang="en-US" sz="1665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deployment</a:t>
            </a:r>
            <a:endParaRPr lang="en-US" sz="1665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ar-EG" altLang="en-US" sz="1725" dirty="0">
                <a:solidFill>
                  <a:schemeClr val="bg1"/>
                </a:solidFill>
              </a:rPr>
              <a:t> 10 </a:t>
            </a:r>
            <a:r>
              <a:rPr lang="en-US" sz="1665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documented failure</a:t>
            </a:r>
            <a:r>
              <a:rPr lang="en-US" altLang="en-US" sz="1725" dirty="0">
                <a:solidFill>
                  <a:schemeClr val="bg1"/>
                </a:solidFill>
              </a:rPr>
              <a:t> </a:t>
            </a:r>
            <a:r>
              <a:rPr lang="en-US" sz="1665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cases</a:t>
            </a:r>
            <a:endParaRPr lang="en-US" altLang="en-US" sz="1665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457200" y="2926080"/>
            <a:ext cx="402336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25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achievements</a:t>
            </a:r>
            <a:endParaRPr lang="en-US" sz="1725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665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270× over the zero-shot baseline</a:t>
            </a:r>
            <a:endParaRPr lang="en-US" sz="1725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665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Point-in-Box beats IoU for small PPE</a:t>
            </a:r>
            <a:endParaRPr lang="en-US" sz="1725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665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 tracking for person counting</a:t>
            </a:r>
            <a:endParaRPr lang="en-US" sz="1725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F2C500"/>
          </a:solidFill>
        </p:spPr>
        <p:txBody>
          <a:bodyPr wrap="square" lIns="203200" tIns="203200" rIns="203200" bIns="203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Critical assessment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Functional, but not production-ready. NO-Hardhat needs work, crowded scenes are hard, and CPU speed is limited.</a:t>
            </a:r>
            <a:endParaRPr lang="en-US" sz="18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1D2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VisionGuard shows AI can assist safety officers on site. With refinement, it could be deployed in real environments.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188720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2C5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9456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108960"/>
            <a:ext cx="777240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Shimaa Gomaa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AEB9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GitHub: github.com/shimaagomaa446-sys/VisionGuard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AEB9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Kaggle: kaggle.com/shimaagomaa88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AEB9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Model: kaggle.com/datasets/shimaagomaa88/visionguard-model-v1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5715</Words>
  <Application>WPS Presentation</Application>
  <PresentationFormat>On-screen Show (16:9)</PresentationFormat>
  <Paragraphs>529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SimSun</vt:lpstr>
      <vt:lpstr>Wingdings</vt:lpstr>
      <vt:lpstr>Calibri</vt:lpstr>
      <vt:lpstr>Calibri</vt:lpstr>
      <vt:lpstr>Calibri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VisionGuard — Final Presentation</dc:title>
  <dc:creator>Shimaa Gomaa</dc:creator>
  <dc:subject>PptxGenJS Presentation</dc:subject>
  <cp:lastModifiedBy>Shimaa Gomaa</cp:lastModifiedBy>
  <cp:revision>2</cp:revision>
  <dcterms:created xsi:type="dcterms:W3CDTF">2026-09-29T22:56:00Z</dcterms:created>
  <dcterms:modified xsi:type="dcterms:W3CDTF">2026-09-30T00:33:46Z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250FD70EE8CB43CCA70413192A0E6004_12</vt:lpwstr>
  </property>
</Properties>
</file>